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1097280"/>
            <a:ext cx="118872" cy="2926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1143000"/>
            <a:ext cx="7315200" cy="777240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300" b="1" i="0">
                <a:solidFill>
                  <a:srgbClr val="2563EB"/>
                </a:solidFill>
                <a:latin typeface="Aptos"/>
              </a:rPr>
              <a:t>KRISIS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965960"/>
            <a:ext cx="9875520" cy="548640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0F172A"/>
                </a:solidFill>
                <a:latin typeface="Aptos"/>
              </a:rPr>
              <a:t>Implementación de programas PL/SQL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2606040"/>
            <a:ext cx="9144000" cy="320040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475569"/>
                </a:solidFill>
                <a:latin typeface="Aptos"/>
              </a:rPr>
              <a:t>Evaluación Parcial N.º 2 · Integración de objetos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" y="3657600"/>
            <a:ext cx="9966960" cy="1078992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3913632"/>
            <a:ext cx="9509760" cy="274320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F172A"/>
                </a:solidFill>
                <a:latin typeface="Aptos"/>
              </a:rPr>
              <a:t>Luis Figueroa · Alvaro Oyarzún · Benjamín Sepúlveda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4315968"/>
            <a:ext cx="9326880" cy="256032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75569"/>
                </a:solidFill>
                <a:latin typeface="Aptos"/>
              </a:rPr>
              <a:t>Docente: Carlos Orellana · Taller de Base de Datos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" y="5779008"/>
            <a:ext cx="9601200" cy="274320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1">
                <a:solidFill>
                  <a:srgbClr val="475569"/>
                </a:solidFill>
                <a:latin typeface="Aptos"/>
              </a:rPr>
              <a:t>Gestión de cuentas, membresías y actividad de usuarios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510528"/>
            <a:ext cx="11173968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6565392"/>
            <a:ext cx="6217920" cy="164592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475569"/>
                </a:solidFill>
                <a:latin typeface="Aptos"/>
              </a:rPr>
              <a:t>KRISIS · TALLER DE BASE DE DATOS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547104"/>
            <a:ext cx="1051560" cy="18288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475569"/>
                </a:solidFill>
                <a:latin typeface="Aptos"/>
              </a:rPr>
              <a:t>01 / 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4572000" cy="201168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2563EB"/>
                </a:solidFill>
                <a:latin typeface="Aptos"/>
              </a:rPr>
              <a:t>CONTEXTO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972800" cy="484632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Aptos"/>
              </a:rPr>
              <a:t>¿Qué resuelve KRISIS?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088136"/>
            <a:ext cx="10972800" cy="320040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75569"/>
                </a:solidFill>
                <a:latin typeface="Aptos"/>
              </a:rPr>
              <a:t>La implementación busca centralizar reglas de negocio y reducir inconsistencias.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73968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65392"/>
            <a:ext cx="6217920" cy="164592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475569"/>
                </a:solidFill>
                <a:latin typeface="Aptos"/>
              </a:rPr>
              <a:t>KRISIS · TALLER DE BASE DE DATOS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47104"/>
            <a:ext cx="1051560" cy="18288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475569"/>
                </a:solidFill>
                <a:latin typeface="Aptos"/>
              </a:rPr>
              <a:t>02 / 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3456432" cy="150876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691640"/>
            <a:ext cx="64008" cy="1508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837944"/>
            <a:ext cx="3090672" cy="256032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2563EB"/>
                </a:solidFill>
                <a:latin typeface="Aptos"/>
              </a:rPr>
              <a:t>NECESIDAD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167128"/>
            <a:ext cx="3090672" cy="941831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0F172A"/>
                </a:solidFill>
                <a:latin typeface="Aptos"/>
              </a:rPr>
              <a:t>Gestionar planes, consultar mayoría de edad y medir actividad reciente.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1691640"/>
            <a:ext cx="3456432" cy="150876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70832" y="1691640"/>
            <a:ext cx="64008" cy="1508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53712" y="1837944"/>
            <a:ext cx="3090672" cy="256032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2563EB"/>
                </a:solidFill>
                <a:latin typeface="Aptos"/>
              </a:rPr>
              <a:t>SOLUCIÓN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2167128"/>
            <a:ext cx="3090672" cy="941831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0F172A"/>
                </a:solidFill>
                <a:latin typeface="Aptos"/>
              </a:rPr>
              <a:t>Procedimientos, funciones, un package y triggers en Oracle PL/SQL.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0144" y="1691640"/>
            <a:ext cx="3456432" cy="150876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0144" y="1691640"/>
            <a:ext cx="64008" cy="1508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93023" y="1837944"/>
            <a:ext cx="3090672" cy="256032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2563EB"/>
                </a:solidFill>
                <a:latin typeface="Aptos"/>
              </a:rPr>
              <a:t>BENEFICIO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93023" y="2167128"/>
            <a:ext cx="3090672" cy="941831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0F172A"/>
                </a:solidFill>
                <a:latin typeface="Aptos"/>
              </a:rPr>
              <a:t>Validaciones reutilizables, datos normalizados y protección del historial.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" y="3730752"/>
            <a:ext cx="2011680" cy="256032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2563EB"/>
                </a:solidFill>
                <a:latin typeface="Aptos"/>
              </a:rPr>
              <a:t>Historia de usuario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" y="4096512"/>
            <a:ext cx="10561320" cy="777240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0F172A"/>
                </a:solidFill>
                <a:latin typeface="Aptos"/>
              </a:rPr>
              <a:t>Como administrador de KRISIS, quiero gestionar las membresías, consultar información de usuarios y generar reportes para mantener las cuentas consistentes y controlar las suscripciones.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" y="5230368"/>
            <a:ext cx="3657600" cy="228600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1">
                <a:solidFill>
                  <a:srgbClr val="475569"/>
                </a:solidFill>
                <a:latin typeface="Aptos"/>
              </a:rPr>
              <a:t>Tiempo sugerido: 40 segundos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6510528"/>
            <a:ext cx="11173968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" y="6565392"/>
            <a:ext cx="6217920" cy="164592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475569"/>
                </a:solidFill>
                <a:latin typeface="Aptos"/>
              </a:rPr>
              <a:t>KRISIS · TALLER DE BASE DE DATOS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40" y="6547104"/>
            <a:ext cx="1051560" cy="18288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475569"/>
                </a:solidFill>
                <a:latin typeface="Aptos"/>
              </a:rPr>
              <a:t>02 / 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4572000" cy="201168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2563EB"/>
                </a:solidFill>
                <a:latin typeface="Aptos"/>
              </a:rPr>
              <a:t>IMPLEMENTACIÓN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972800" cy="484632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Aptos"/>
              </a:rPr>
              <a:t>Procedimientos almacenados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088136"/>
            <a:ext cx="10972800" cy="320040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75569"/>
                </a:solidFill>
                <a:latin typeface="Aptos"/>
              </a:rPr>
              <a:t>Dos procedimientos: uno modifica datos y otro genera un reporte.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73968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65392"/>
            <a:ext cx="6217920" cy="164592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475569"/>
                </a:solidFill>
                <a:latin typeface="Aptos"/>
              </a:rPr>
              <a:t>KRISIS · TALLER DE BASE DE DATOS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47104"/>
            <a:ext cx="1051560" cy="18288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475569"/>
                </a:solidFill>
                <a:latin typeface="Aptos"/>
              </a:rPr>
              <a:t>03 / 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737360"/>
            <a:ext cx="5166360" cy="201168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8" y="1737360"/>
            <a:ext cx="64008" cy="2011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883664"/>
            <a:ext cx="4800600" cy="256032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2563EB"/>
                </a:solidFill>
                <a:latin typeface="Aptos"/>
              </a:rPr>
              <a:t>PR_ACTUALIZAR_PLAN_USUARIO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212848"/>
            <a:ext cx="4800600" cy="1444752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0F172A"/>
                </a:solidFill>
                <a:latin typeface="Aptos"/>
              </a:rPr>
              <a:t>• Recibe ID y plan.
• Acepta '1' (Premium) o '0' (Gratuito).
• Rechaza valores inválidos con error controlado.
Soluciona: evita cambios de plan incorrectos.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8" y="1737360"/>
            <a:ext cx="5166360" cy="201168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36208" y="1737360"/>
            <a:ext cx="64008" cy="2011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1883664"/>
            <a:ext cx="4800600" cy="256032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2563EB"/>
                </a:solidFill>
                <a:latin typeface="Aptos"/>
              </a:rPr>
              <a:t>SP_REPORTE_USUARIOS_PREMIUM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2212848"/>
            <a:ext cx="4800600" cy="1444752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0F172A"/>
                </a:solidFill>
                <a:latin typeface="Aptos"/>
              </a:rPr>
              <a:t>• No recibe parámetros.
• Cuenta usuarios totales, Premium y Gratuitos.
• Calcula porcentajes por plan.
Soluciona: entrega un resumen administrativo.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2688" y="4160520"/>
            <a:ext cx="1325880" cy="3017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9264" y="4183380"/>
            <a:ext cx="1252728" cy="22860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MODIFICAR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423160" y="4160520"/>
            <a:ext cx="1325880" cy="3017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59736" y="4183380"/>
            <a:ext cx="1252728" cy="22860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REPORTAR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892040"/>
            <a:ext cx="10515600" cy="502920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F172A"/>
                </a:solidFill>
                <a:latin typeface="Aptos"/>
              </a:rPr>
              <a:t>En conjunto, permiten administrar membresías y conocer su distribución sin repetir consultas manuales.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650992"/>
            <a:ext cx="3657600" cy="219456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1">
                <a:solidFill>
                  <a:srgbClr val="475569"/>
                </a:solidFill>
                <a:latin typeface="Aptos"/>
              </a:rPr>
              <a:t>Tiempo sugerido: 1 minuto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6510528"/>
            <a:ext cx="11173968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" y="6565392"/>
            <a:ext cx="6217920" cy="164592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475569"/>
                </a:solidFill>
                <a:latin typeface="Aptos"/>
              </a:rPr>
              <a:t>KRISIS · TALLER DE BASE DE DATOS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0" y="6547104"/>
            <a:ext cx="1051560" cy="18288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475569"/>
                </a:solidFill>
                <a:latin typeface="Aptos"/>
              </a:rPr>
              <a:t>03 / 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4572000" cy="201168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2563EB"/>
                </a:solidFill>
                <a:latin typeface="Aptos"/>
              </a:rPr>
              <a:t>IMPLEMENTACIÓN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972800" cy="484632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Aptos"/>
              </a:rPr>
              <a:t>Funciones almacenadas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088136"/>
            <a:ext cx="10972800" cy="320040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75569"/>
                </a:solidFill>
                <a:latin typeface="Aptos"/>
              </a:rPr>
              <a:t>Ambas funciones consultan información y devuelven un resultado.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73968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65392"/>
            <a:ext cx="6217920" cy="164592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475569"/>
                </a:solidFill>
                <a:latin typeface="Aptos"/>
              </a:rPr>
              <a:t>KRISIS · TALLER DE BASE DE DATOS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47104"/>
            <a:ext cx="1051560" cy="18288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475569"/>
                </a:solidFill>
                <a:latin typeface="Aptos"/>
              </a:rPr>
              <a:t>04 / 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737360"/>
            <a:ext cx="5166360" cy="201168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8" y="1737360"/>
            <a:ext cx="64008" cy="2011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883664"/>
            <a:ext cx="4800600" cy="256032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2563EB"/>
                </a:solidFill>
                <a:latin typeface="Aptos"/>
              </a:rPr>
              <a:t>FN_ES_USUARIO_ADULTO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212848"/>
            <a:ext cx="4800600" cy="1444752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0F172A"/>
                </a:solidFill>
                <a:latin typeface="Aptos"/>
              </a:rPr>
              <a:t>• Recibe el ID del usuario.
• Consulta su fecha de nacimiento.
• Devuelve 'S' si tiene 18 años o más; si no, 'N'.
Soluciona: centraliza la regla de mayoría de edad.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8" y="1737360"/>
            <a:ext cx="5166360" cy="201168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36208" y="1737360"/>
            <a:ext cx="64008" cy="2011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1883664"/>
            <a:ext cx="4800600" cy="256032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2563EB"/>
                </a:solidFill>
                <a:latin typeface="Aptos"/>
              </a:rPr>
              <a:t>FN_PORCENTAJE_USUARIOS_ACTIVOS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2212848"/>
            <a:ext cx="4800600" cy="1444752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0F172A"/>
                </a:solidFill>
                <a:latin typeface="Aptos"/>
              </a:rPr>
              <a:t>• No recibe parámetros.
• Calcula qué porcentaje tuvo actividad en los últimos 30 días según STREAM_LOG.
Soluciona: permite estimar el uso reciente.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251960"/>
            <a:ext cx="10469880" cy="713232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4462272"/>
            <a:ext cx="10012680" cy="256032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2563EB"/>
                </a:solidFill>
                <a:latin typeface="Aptos"/>
              </a:rPr>
              <a:t>Funciones = cálculos reutilizables que devuelven un resultado.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321808"/>
            <a:ext cx="3657600" cy="219456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1">
                <a:solidFill>
                  <a:srgbClr val="475569"/>
                </a:solidFill>
                <a:latin typeface="Aptos"/>
              </a:rPr>
              <a:t>Tiempo sugerido: 1 minuto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6510528"/>
            <a:ext cx="11173968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" y="6565392"/>
            <a:ext cx="6217920" cy="164592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475569"/>
                </a:solidFill>
                <a:latin typeface="Aptos"/>
              </a:rPr>
              <a:t>KRISIS · TALLER DE BASE DE DATOS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7040" y="6547104"/>
            <a:ext cx="1051560" cy="18288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475569"/>
                </a:solidFill>
                <a:latin typeface="Aptos"/>
              </a:rPr>
              <a:t>04 / 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4572000" cy="201168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2563EB"/>
                </a:solidFill>
                <a:latin typeface="Aptos"/>
              </a:rPr>
              <a:t>IMPLEMENTACIÓN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972800" cy="484632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Aptos"/>
              </a:rPr>
              <a:t>Package de gestión de usuarios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088136"/>
            <a:ext cx="10972800" cy="320040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75569"/>
                </a:solidFill>
                <a:latin typeface="Aptos"/>
              </a:rPr>
              <a:t>PKG_GESTION_USUARIOS agrupa las operaciones relacionadas con las cuentas.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73968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65392"/>
            <a:ext cx="6217920" cy="164592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475569"/>
                </a:solidFill>
                <a:latin typeface="Aptos"/>
              </a:rPr>
              <a:t>KRISIS · TALLER DE BASE DE DATOS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47104"/>
            <a:ext cx="1051560" cy="18288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475569"/>
                </a:solidFill>
                <a:latin typeface="Aptos"/>
              </a:rPr>
              <a:t>05 / 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737360"/>
            <a:ext cx="6537960" cy="214884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8" y="1737360"/>
            <a:ext cx="64008" cy="2148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883664"/>
            <a:ext cx="6172200" cy="256032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2563EB"/>
                </a:solidFill>
                <a:latin typeface="Aptos"/>
              </a:rPr>
              <a:t>PÚBLICOS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212848"/>
            <a:ext cx="6172200" cy="1581912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0F172A"/>
                </a:solidFill>
                <a:latin typeface="Aptos"/>
              </a:rPr>
              <a:t>ACTUALIZAR_PLAN · MOSTRAR_REPORTE_PLANES
CONSULTAR_MAYORIA_EDAD · CONSULTAR_ACTIVIDAD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16368" y="1737360"/>
            <a:ext cx="3886200" cy="214884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516368" y="1737360"/>
            <a:ext cx="64008" cy="2148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99248" y="1883664"/>
            <a:ext cx="3520440" cy="256032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2563EB"/>
                </a:solidFill>
                <a:latin typeface="Aptos"/>
              </a:rPr>
              <a:t>PRIVADO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99248" y="2212848"/>
            <a:ext cx="3520440" cy="1581912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0F172A"/>
                </a:solidFill>
                <a:latin typeface="Aptos"/>
              </a:rPr>
              <a:t>OBTENER_ETIQUETA_PLAN
Traduce '1' y '0' a Premium y Gratuito; solo se usa internamente.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434840"/>
            <a:ext cx="1463040" cy="256032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2563EB"/>
                </a:solidFill>
                <a:latin typeface="Aptos"/>
              </a:rPr>
              <a:t>¿Qué soluciona?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57400" y="4370832"/>
            <a:ext cx="9052560" cy="594360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0F172A"/>
                </a:solidFill>
                <a:latin typeface="Aptos"/>
              </a:rPr>
              <a:t>Ordena el código, reutiliza procedimientos y funciones, y separa la interfaz pública de la lógica interna para facilitar el mantenimiento.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349240"/>
            <a:ext cx="3657600" cy="219456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1">
                <a:solidFill>
                  <a:srgbClr val="475569"/>
                </a:solidFill>
                <a:latin typeface="Aptos"/>
              </a:rPr>
              <a:t>Tiempo sugerido: 1 minuto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6510528"/>
            <a:ext cx="11173968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" y="6565392"/>
            <a:ext cx="6217920" cy="164592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475569"/>
                </a:solidFill>
                <a:latin typeface="Aptos"/>
              </a:rPr>
              <a:t>KRISIS · TALLER DE BASE DE DATOS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7040" y="6547104"/>
            <a:ext cx="1051560" cy="18288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475569"/>
                </a:solidFill>
                <a:latin typeface="Aptos"/>
              </a:rPr>
              <a:t>05 / 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4572000" cy="201168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2563EB"/>
                </a:solidFill>
                <a:latin typeface="Aptos"/>
              </a:rPr>
              <a:t>IMPLEMENTACIÓN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972800" cy="484632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Aptos"/>
              </a:rPr>
              <a:t>Triggers: automatización y protección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088136"/>
            <a:ext cx="10972800" cy="320040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75569"/>
                </a:solidFill>
                <a:latin typeface="Aptos"/>
              </a:rPr>
              <a:t>Se ejecutan automáticamente cuando ocurre una operación sobre la tabla.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73968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65392"/>
            <a:ext cx="6217920" cy="164592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475569"/>
                </a:solidFill>
                <a:latin typeface="Aptos"/>
              </a:rPr>
              <a:t>KRISIS · TALLER DE BASE DE DATOS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47104"/>
            <a:ext cx="1051560" cy="18288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475569"/>
                </a:solidFill>
                <a:latin typeface="Aptos"/>
              </a:rPr>
              <a:t>06 / 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737360"/>
            <a:ext cx="5166360" cy="214884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8" y="1737360"/>
            <a:ext cx="64008" cy="2148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883664"/>
            <a:ext cx="4800600" cy="256032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2563EB"/>
                </a:solidFill>
                <a:latin typeface="Aptos"/>
              </a:rPr>
              <a:t>TRG_LIMPIAR_DATOS_USUARIO · FILA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212848"/>
            <a:ext cx="4800600" cy="1581912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0F172A"/>
                </a:solidFill>
                <a:latin typeface="Aptos"/>
              </a:rPr>
              <a:t>• Antes de INSERT o UPDATE de cada fila.
• Normaliza nombre y correo: minúsculas y eliminación de espacios según la regla definida.
Soluciona: mantiene formato consistente.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8" y="1737360"/>
            <a:ext cx="5166360" cy="214884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36208" y="1737360"/>
            <a:ext cx="64008" cy="2148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1883664"/>
            <a:ext cx="4800600" cy="256032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2563EB"/>
                </a:solidFill>
                <a:latin typeface="Aptos"/>
              </a:rPr>
              <a:t>TRG_PROTEGER_HISTORIAL_STREAM · SENTENCIA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2212848"/>
            <a:ext cx="4800600" cy="1581912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0F172A"/>
                </a:solidFill>
                <a:latin typeface="Aptos"/>
              </a:rPr>
              <a:t>• Antes de cualquier DELETE en STREAM_LOG.
• Genera error -20016 y bloquea la eliminación.
Soluciona: protege el historial de reproducciones.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370832"/>
            <a:ext cx="10469880" cy="68580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572000"/>
            <a:ext cx="10195560" cy="256032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2563EB"/>
                </a:solidFill>
                <a:latin typeface="Aptos"/>
              </a:rPr>
              <a:t>Trigger de fila = actúa por registro · Trigger de sentencia = actúa por instrucción SQL.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349240"/>
            <a:ext cx="3657600" cy="219456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1">
                <a:solidFill>
                  <a:srgbClr val="475569"/>
                </a:solidFill>
                <a:latin typeface="Aptos"/>
              </a:rPr>
              <a:t>Tiempo sugerido: 1 minuto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6510528"/>
            <a:ext cx="11173968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" y="6565392"/>
            <a:ext cx="6217920" cy="164592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475569"/>
                </a:solidFill>
                <a:latin typeface="Aptos"/>
              </a:rPr>
              <a:t>KRISIS · TALLER DE BASE DE DATOS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7040" y="6547104"/>
            <a:ext cx="1051560" cy="18288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475569"/>
                </a:solidFill>
                <a:latin typeface="Aptos"/>
              </a:rPr>
              <a:t>06 / 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4572000" cy="201168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2563EB"/>
                </a:solidFill>
                <a:latin typeface="Aptos"/>
              </a:rPr>
              <a:t>PROCESO DE DESARROLLO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972800" cy="484632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Aptos"/>
              </a:rPr>
              <a:t>Cuatro evidencias del uso de 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088136"/>
            <a:ext cx="10972800" cy="320040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75569"/>
                </a:solidFill>
                <a:latin typeface="Aptos"/>
              </a:rPr>
              <a:t>Apoyo para tomar decisiones, resolver dificultades y comprender la implementación.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73968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65392"/>
            <a:ext cx="6217920" cy="164592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475569"/>
                </a:solidFill>
                <a:latin typeface="Aptos"/>
              </a:rPr>
              <a:t>KRISIS · TALLER DE BASE DE DATOS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47104"/>
            <a:ext cx="1051560" cy="18288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475569"/>
                </a:solidFill>
                <a:latin typeface="Aptos"/>
              </a:rPr>
              <a:t>07 / 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691640"/>
            <a:ext cx="5166360" cy="150876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8" y="1691640"/>
            <a:ext cx="64008" cy="1508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837944"/>
            <a:ext cx="4800600" cy="256032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2563EB"/>
                </a:solidFill>
                <a:latin typeface="Aptos"/>
              </a:rPr>
              <a:t>01 · DECISIÓN TÉCNICA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167128"/>
            <a:ext cx="4800600" cy="941831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0F172A"/>
                </a:solidFill>
                <a:latin typeface="Aptos"/>
              </a:rPr>
              <a:t>Se eligió el package para agrupar operaciones relacionadas y separar elementos públicos y privados, en vez de mantener la lógica dispersa.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8" y="1691640"/>
            <a:ext cx="5166360" cy="150876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36208" y="1691640"/>
            <a:ext cx="64008" cy="1508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1837944"/>
            <a:ext cx="4800600" cy="256032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2563EB"/>
                </a:solidFill>
                <a:latin typeface="Aptos"/>
              </a:rPr>
              <a:t>02 · DIFICULTAD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2167128"/>
            <a:ext cx="4800600" cy="941831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0F172A"/>
                </a:solidFill>
                <a:latin typeface="Aptos"/>
              </a:rPr>
              <a:t>Se revisó la validación del cambio de plan para aceptar solo '1' y '0' y rechazar 'X' con el error -20003.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3520440"/>
            <a:ext cx="5166360" cy="150876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9808" y="3520440"/>
            <a:ext cx="64008" cy="1508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3666744"/>
            <a:ext cx="4800600" cy="256032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2563EB"/>
                </a:solidFill>
                <a:latin typeface="Aptos"/>
              </a:rPr>
              <a:t>03 · PRUEBA SIGNIFICATIVA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3995928"/>
            <a:ext cx="4800600" cy="941831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0F172A"/>
                </a:solidFill>
                <a:latin typeface="Aptos"/>
              </a:rPr>
              <a:t>El caso de prueba usa 'X'. El resultado esperado es rechazar la actualización y generar el error de validación -20003.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6208" y="3520440"/>
            <a:ext cx="5166360" cy="150876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6208" y="3520440"/>
            <a:ext cx="64008" cy="1508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9088" y="3666744"/>
            <a:ext cx="4800600" cy="256032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2563EB"/>
                </a:solidFill>
                <a:latin typeface="Aptos"/>
              </a:rPr>
              <a:t>04 · APRENDIZAJE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3995928"/>
            <a:ext cx="4800600" cy="941831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0F172A"/>
                </a:solidFill>
                <a:latin typeface="Aptos"/>
              </a:rPr>
              <a:t>La IA ayudó a revisar validaciones y pruebas según la pauta; el aprendizaje fue comprender la lógica y no limitarse a ejecutar el código.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532120"/>
            <a:ext cx="3657600" cy="219456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1">
                <a:solidFill>
                  <a:srgbClr val="475569"/>
                </a:solidFill>
                <a:latin typeface="Aptos"/>
              </a:rPr>
              <a:t>Tiempo sugerido: 1 minuto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6510528"/>
            <a:ext cx="11173968" cy="109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0352" y="6565392"/>
            <a:ext cx="6217920" cy="164592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475569"/>
                </a:solidFill>
                <a:latin typeface="Aptos"/>
              </a:rPr>
              <a:t>KRISIS · TALLER DE BASE DE DATOS 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07040" y="6547104"/>
            <a:ext cx="1051560" cy="18288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475569"/>
                </a:solidFill>
                <a:latin typeface="Apto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KRISIS - Presentación breve de Evaluación Parcial N.º 2</dc:title>
  <dc:subject>Procedimientos, funciones, package, triggers y evidencias IA</dc:subject>
  <dc:creator>Luis Figueroa, Alvaro Oyarzún, Benjamín Sepúlveda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